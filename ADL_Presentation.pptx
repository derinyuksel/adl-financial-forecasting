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Forecasting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Monte Carlo Dropout + Regime Detection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BIST 100 Index Prediction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Yıldırım  •  Belkıs Derin Yüksel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COM0415 Applied Deep Learning  •  Istanbul Kültür University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6583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uncertainty matters in finance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64792"/>
            <a:ext cx="502920" cy="6583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938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810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11226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 100 + S&amp;P 500 + FRED-MD, 4,223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23744"/>
            <a:ext cx="502920" cy="6583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8833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694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87121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baseline → Transformer + MCD → Regime Detection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82696"/>
            <a:ext cx="502920" cy="6583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4728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3284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63016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Directional Accuracy, Uncertainty 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41648"/>
            <a:ext cx="502920" cy="6583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0624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0873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3891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&amp; future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Unknown Uncertainty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models give point predictions with no confidence measure — dangerous in volatile markets.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51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Market Regimes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572768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switch between Bull, Bear, Sideways phases. A single model can't adapt without regime awareness.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51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Our Goal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572768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BIST 100 next-day log return AND quantify how confident the model is in each prediction.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060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241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4,223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6060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241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 = 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6060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241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1645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 = 30 days)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 100 Close (XU100.IS)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Close (^GSPC)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— CPIAUCSL (FRED-MD)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Funds Rate — FEDFUNDS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Production — INDPRO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423160"/>
            <a:ext cx="3931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514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82296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9718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9992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2022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0440"/>
            <a:ext cx="822960" cy="38404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5661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35935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4114800"/>
            <a:ext cx="822960" cy="38404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1605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4187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UNRATE excluded: r = −0.85 correlation with INDPRO → multicollinearity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Three-Pillar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65176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LSTM, hidden=64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lookback, D=5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(patience=7)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for Transformer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60120"/>
            <a:ext cx="2651760" cy="5943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9875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2070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MCD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664208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Transformer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d_model=64, 4 heads, 2 layers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MCDropout always active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 stochastic passes → μ + σ²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65176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9875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2070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664208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log return + rolling vol (20d)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(K=3): Bull / Sideways / Bear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HMM: smooth transitions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Viterbi + posterior probabilities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880360"/>
            <a:ext cx="502920" cy="0"/>
          </a:xfrm>
          <a:prstGeom prst="line">
            <a:avLst/>
          </a:prstGeom>
          <a:noFill/>
          <a:ln w="25400">
            <a:solidFill>
              <a:srgbClr val="3A8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880360"/>
            <a:ext cx="50292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MC Dropout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47548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(30 × 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34640" y="1371600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72184"/>
            <a:ext cx="4754880" cy="38404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361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 → d=64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1856232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56816"/>
            <a:ext cx="4754880" cy="38404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020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34640" y="2340864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41448"/>
            <a:ext cx="47548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5054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× 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34640" y="2825496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4754880" cy="384048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9900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Multi-Head Attention (4 heads)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3310128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10712"/>
            <a:ext cx="4754880" cy="384048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474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FFN (d=128, ReLU) + LayerNorm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34640" y="3794760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95344"/>
            <a:ext cx="4754880" cy="38404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959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Head (MCDropout)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34640" y="4279392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79976"/>
            <a:ext cx="47548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44439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μ + σ²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0" y="960120"/>
            <a:ext cx="3108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77840" y="1051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14813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1865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n_heads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18653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22494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n_layers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22494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2633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d_ff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26334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0664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7784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34015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77840" y="37856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passes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06640" y="37856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4169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06640" y="41696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30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77840" y="4553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45537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(1/N)Σyᵢ     σ² = (1/N)Σ(yᵢ−μ)²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182880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155448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(r̂ = 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0.010781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0.014858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636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36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0.010437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36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0.014521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36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+ MCD (μ)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0.011302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51.37%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063240"/>
            <a:ext cx="7680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1546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98448" y="31546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RMSE close to naive — expected for daily log returns (Efficient Market Hypothesis)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" y="3685032"/>
            <a:ext cx="7680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77647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98448" y="37764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 51.37% — above 50% random threshold, Transformer captures signal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4306824"/>
            <a:ext cx="7680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439826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98448" y="43982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epistemic uncertainty  σ̄ = 0.0035  (range: 0.0017 – 0.0059)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 Detection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65176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1,648 days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39.1%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returns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volatility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60120"/>
            <a:ext cx="2651760" cy="50292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05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5727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1,642 days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returns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vol.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65176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05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15727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921 days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returns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volatility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5204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858768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produces temporally smooth, persistent regime blocks — unlike K-Means (noisy, day-to-day switching).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regime correctly captures the 2022–2023 Turkish currency crisis period, validating the approach.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Uncertainty in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Monte Carlo Dropout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Keep dropout ACTIVE at inference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50 forward passes for same input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Get 50 different predictions {y₁...y₅₀}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μ = mean → point forecast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σ² = variance → epistemic uncertainty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Uncertainty Statistics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74904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86600" y="1572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020824"/>
            <a:ext cx="374904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084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86600" y="20848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532888"/>
            <a:ext cx="374904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5968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25968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044952"/>
            <a:ext cx="374904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passes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8660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EBF5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95020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High σ = model is uncertain → unusual market conditions → reduce position size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σ = model is confident → can trade with higher conviction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3840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241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What Worked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 51.37% &gt; 50% random threshold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signal varies with market volatility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correctly identifies 2022–2023 Bear regime (TL crisis)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data → forecast → uncertainty → regime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EMH literature — not a failure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3931920" cy="4572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MAE/RMSE do not beat naive baseline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calibration low (corr(σ, |error|) = 0.018)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labels not yet fed back into Transformer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cost modeling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loss function not implemented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91440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698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Transformer Forecasting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Transformer on 4,223 daily observations, D=5 multivariate features, 51.37% directional accuracy.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29968"/>
            <a:ext cx="73152" cy="91440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939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Uncertainty Quantification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44144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Dropout with N=50 passes produces σ̄=0.0035 epistemic uncertainty — supports risk-aware trading.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54096"/>
            <a:ext cx="73152" cy="91440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181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Regime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46557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HMM identifies Bull (39%), Sideways (39%), Bear (22%) with temporal persistence aligned to real events.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96512"/>
            <a:ext cx="82296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4622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Transformer on regime posteriors  •  Uncertainty-aware loss function  •  Risk-adjusted trading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3017520"/>
            <a:ext cx="457200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Yıldırım  •  Belkıs Derin Yüksel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COM0415 Applied Deep Learning  •  Istanbul Kültür University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github.com/derinyuksel/ADL-financial-forecasting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Uncertainty-Aware Financial Forecasting</dc:title>
  <dc:subject>PptxGenJS Presentation</dc:subject>
  <dc:creator>Lara Yıldırım, Belkıs Derin Yüksel</dc:creator>
  <cp:lastModifiedBy>Lara Yıldırım, Belkıs Derin Yüksel</cp:lastModifiedBy>
  <cp:revision>1</cp:revision>
  <dcterms:created xsi:type="dcterms:W3CDTF">2026-05-06T18:54:38Z</dcterms:created>
  <dcterms:modified xsi:type="dcterms:W3CDTF">2026-05-06T18:54:38Z</dcterms:modified>
</cp:coreProperties>
</file>