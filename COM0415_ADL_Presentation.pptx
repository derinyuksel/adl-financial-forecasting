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ABACCF-F5CC-016E-4436-78430A223437}" v="8" dt="2026-05-12T22:42:53.744"/>
    <p1510:client id="{7B140F55-C2CC-2501-C16F-EE791C7C5171}" v="1" dt="2026-05-12T16:47:20.299"/>
    <p1510:client id="{7B922CF8-9846-E190-32EA-8DB152AE2791}" v="187" dt="2026-05-12T17:26:42.1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7D9AB-FAB6-4CDF-AD04-9570E6980776}" type="datetimeFigureOut"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6F67B6-A4C9-4D85-8911-8E1CFA3650D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74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Forecasting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97280" y="2743200"/>
            <a:ext cx="2103120" cy="128016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7889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66160" y="2743200"/>
            <a:ext cx="2103120" cy="12801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66160" y="27889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35040" y="2743200"/>
            <a:ext cx="2103120" cy="12801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0" y="27889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 Yıldırım  •  Belkıs Derin Yüksel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5537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COM0415 Applied Deep Learning  •  Istanbul Kültür University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8755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BIST 100 go UP or DOWN tomorrow?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CONFIDENT should we be in that prediction?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3931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40280"/>
            <a:ext cx="3931920" cy="5029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860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Traditional Models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confidence measure.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Overconfident in volatile markets.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240280"/>
            <a:ext cx="3931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240280"/>
            <a:ext cx="3931920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2860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Our System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83464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+ uncertainty score.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when it does not know.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Risk-aware by design.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16 Years of Market History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2860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2103120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A86FF"/>
                </a:solidFill>
                <a:latin typeface="Calibri"/>
                <a:ea typeface="Calibri"/>
                <a:cs typeface="Calibri"/>
              </a:rPr>
              <a:t>4,231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obs.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22860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33172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2783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+ Macro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22860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65760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30d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Lookback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5371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prediction</a:t>
            </a:r>
            <a:endParaRPr lang="en-US" sz="1000" dirty="0"/>
          </a:p>
        </p:txBody>
      </p:sp>
      <p:pic>
        <p:nvPicPr>
          <p:cNvPr id="16" name="Image 0" descr="/tmp/repo/ADL-financial-forecasting-main/results/bist_price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914400"/>
            <a:ext cx="6126480" cy="32918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08760" y="431067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BIST 100 exponential surge post-2021: non-stationarity → log returns as target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Selection: What Drives BIST 100?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/tmp/repo/ADL-financial-forecasting-main/results/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96112"/>
            <a:ext cx="50292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1143000"/>
            <a:ext cx="33832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69280" y="12161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+0.90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669280" y="1581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BIST 100 &amp; CPI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69280" y="18562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drives nominal prices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377440"/>
            <a:ext cx="33832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69280" y="24505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+0.87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669280" y="2816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BIST 100 &amp; S&amp;P 500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0" y="3090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 linkage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77840" y="3611880"/>
            <a:ext cx="33832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669280" y="36850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−0.85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669280" y="40507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UNRATE &amp; INDPRO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69280" y="43251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→ UNRATE excluded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77840" y="4617720"/>
            <a:ext cx="33832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23560" y="4663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feature set: D = 5  (BIST100, SP500, CPI, FEDFUNDS, INDPRO)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System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54851"/>
            <a:ext cx="1953499" cy="137042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33495"/>
            <a:ext cx="1769973" cy="841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of data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the 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42032" y="954851"/>
            <a:ext cx="1953499" cy="1370426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42032" y="1051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33472" y="1533495"/>
            <a:ext cx="1769973" cy="841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learns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days matter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18304" y="954851"/>
            <a:ext cx="1953499" cy="137042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18304" y="1051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809744" y="1542424"/>
            <a:ext cx="1769973" cy="841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runs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times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94576" y="954851"/>
            <a:ext cx="1953499" cy="137042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94576" y="1051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986016" y="1515635"/>
            <a:ext cx="1769973" cy="841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Level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1927" y="2422317"/>
            <a:ext cx="8514458" cy="26088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0" descr="/tmp/repo/ADL-financial-forecasting-main/results/transformer_architecture_v2.png"/>
          <p:cNvPicPr>
            <a:picLocks noChangeAspect="1"/>
          </p:cNvPicPr>
          <p:nvPr/>
        </p:nvPicPr>
        <p:blipFill>
          <a:blip r:embed="rId3"/>
          <a:srcRect l="9578" t="-169" r="8896" b="17522"/>
          <a:stretch>
            <a:fillRect/>
          </a:stretch>
        </p:blipFill>
        <p:spPr>
          <a:xfrm>
            <a:off x="457646" y="2422318"/>
            <a:ext cx="2324942" cy="260747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2819281" y="295341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819281" y="331917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 projection → Positional Encoding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819281" y="364836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Multi-Head Self-Attention (4 heads)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819281" y="397754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Feed-Forward Network + Add &amp; Norm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819281" y="430673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MCDropout Uncertainty Head (N=50)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824782" y="2907698"/>
            <a:ext cx="2011680" cy="82296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42641" y="295341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μ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842641" y="327345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return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824782" y="3822098"/>
            <a:ext cx="2011680" cy="8229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42641" y="386781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σ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842641" y="418785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 uncertainty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LSTM Training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/tmp/repo/ADL-financial-forecasting-main/results/lstm_baseline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96112"/>
            <a:ext cx="6217920" cy="3611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960120"/>
            <a:ext cx="21945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0" y="1051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0" y="1828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0" y="20574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LSTM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0" y="23408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dim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0" y="25694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0" y="28529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Lookback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0" y="30815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30 days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33649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at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0" y="35935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8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0" y="38770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 Acc.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58000" y="41056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49.8%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Predictions (orange) nearly flat near 0  -&gt; model defaults to "no change" direction → serves as our challenge to beat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How Well Did It Work?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241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0241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10241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0" y="10241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270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(always predict: no change)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5270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0.0108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5270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0.0149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15270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0756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Baseline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0756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0756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0.0145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20756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49.8%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8229600" cy="475488"/>
          </a:xfrm>
          <a:prstGeom prst="rect">
            <a:avLst/>
          </a:prstGeom>
          <a:solidFill>
            <a:srgbClr val="EBF5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514600"/>
            <a:ext cx="73152" cy="47548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6243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+ MCD (our model)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26243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0.0113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26243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26243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82296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320040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metric: Direction Accuracy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3547872"/>
            <a:ext cx="78638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50">
                <a:solidFill>
                  <a:srgbClr val="FFFFFF"/>
                </a:solidFill>
                <a:ea typeface="+mn-lt"/>
                <a:cs typeface="+mn-lt"/>
              </a:rPr>
              <a:t>51.4% suggests a weak directional signal above the 50% random threshold, though this should be interpreted cautiously given the test set size. The naive baseline scores 0% by construction, as predicting no change never commits to a direction.</a:t>
            </a:r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443484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44988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17 epochs  |  Best val MSE: 0.000437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443484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0" y="44988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uncertainty:  σ = 0.0035  (range 0.0017–0.0059)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Predictions + Uncertainty Band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/tmp/repo/ADL-financial-forecasting-main/results/transformer_results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96112"/>
            <a:ext cx="640080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03720" y="1051560"/>
            <a:ext cx="2057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903720" y="1051560"/>
            <a:ext cx="2057400" cy="34747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0" y="108813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panel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949440" y="14630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converges in 17 epochs. Val MSE stabilises around 0.00044.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903720" y="2377440"/>
            <a:ext cx="2057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03720" y="2377440"/>
            <a:ext cx="205740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0" y="241401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panel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949440" y="278892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band = ±2σ uncertainty. Wider when market is volatile.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903720" y="3703320"/>
            <a:ext cx="2057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903720" y="3703320"/>
            <a:ext cx="2057400" cy="34747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373989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panel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949440" y="41148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spikes during turbulent days — model correctly flags uncertainty.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'Uncertainty' Mean Here?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69264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weather forecast: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307592"/>
            <a:ext cx="786384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"70% chance of rain" is more useful than "it will rain" --&gt; you know how confident the forecast is.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3931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38528"/>
            <a:ext cx="3931920" cy="47548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842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Uncertainty  (σ ≈ 0.0017)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has seen similar patterns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behaving normally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prediction more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938528"/>
            <a:ext cx="3931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938528"/>
            <a:ext cx="3931920" cy="47548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9842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Uncertainty  (σ ≈ 0.0059)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51460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market conditions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 unfamiliar territory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position size, be cautious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361688"/>
            <a:ext cx="82296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44165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7274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σ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44165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0.0017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43200" y="47274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σ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44165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0.0059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54880" y="47274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σ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44165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66560" y="47274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passes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Regimes: K-Means + HMM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/tmp/repo/ADL-financial-forecasting-main/results/regime_detection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96112"/>
            <a:ext cx="594360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960120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92240" y="960120"/>
            <a:ext cx="2468880" cy="3840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0" y="10058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0" y="1417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98080" y="1463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1,648 days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92240" y="2331720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331720"/>
            <a:ext cx="2468880" cy="38404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0" y="23774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Sideways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583680" y="27889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498080" y="28346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1,642 days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92240" y="3703320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92240" y="3703320"/>
            <a:ext cx="2468880" cy="38404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0" y="3749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583680" y="41605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498080" y="42062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921 days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92240" y="5074920"/>
            <a:ext cx="2468880" cy="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92240" y="4572000"/>
            <a:ext cx="24688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37960" y="45902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= 243 Bear days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 Crisis validated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We Learn?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78408"/>
            <a:ext cx="786384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Predicting markets is hard, and that is actually expected (Efficient Market Hypothesis).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316736"/>
            <a:ext cx="78638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Public information is already priced in. Our contribution is the uncertainty signal and regime context, not raw accuracy.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74520"/>
            <a:ext cx="411480" cy="4937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984248"/>
            <a:ext cx="75895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Directional accuracy 51.4% —&gt; above 50% random threshold, model learns a signal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441448"/>
            <a:ext cx="8229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41448"/>
            <a:ext cx="411480" cy="4937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32888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551176"/>
            <a:ext cx="75895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Uncertainty signal rises during volatile periods —&gt; model knows when it is unsure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3008376"/>
            <a:ext cx="8229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08376"/>
            <a:ext cx="411480" cy="4937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99816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118104"/>
            <a:ext cx="75895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2023 Bear regime (243 days) correctly identified —&gt; matches Turkey's currency crisis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575304"/>
            <a:ext cx="8229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575304"/>
            <a:ext cx="411480" cy="493776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6674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685032"/>
            <a:ext cx="75895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MAE &amp; RMSE close to naive —&gt; expected, consistent with EMH literature, not a failure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4142232"/>
            <a:ext cx="8229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142232"/>
            <a:ext cx="411480" cy="493776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233672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4251960"/>
            <a:ext cx="75895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Regime labels not yet fed into Transformer —&gt; connecting them is the next step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0" cy="100584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" y="1078992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forecasting pipeline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14630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years of real BIST 100 data. Data collection → preprocessing → training → evaluation, fully reproducible.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48840"/>
            <a:ext cx="548640" cy="10058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048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15568" y="2221992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 predictions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26060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Dropout (N=50) produces σ alongside every forecast. Grounded in Bayesian theory (Gal &amp; Ghahramani, 2016).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91840"/>
            <a:ext cx="5486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478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15568" y="3364992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regime detection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5568" y="37490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+ HMM identifies Bull / Sideways / Bear. 2023 Bear regime (243 days) matches the real TL crisis.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498848"/>
            <a:ext cx="822960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5371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 Condition Transformer on regime state  •  Uncertainty-aware training loss  •  Risk-adjusted trading evaluation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demo_live_forecast.ipynb</a:t>
            </a:r>
            <a:r>
              <a:rPr lang="en-US" sz="1400" b="1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,  runs in 2 minutes on Google </a:t>
            </a:r>
            <a:r>
              <a:rPr lang="en-US" sz="1400" b="1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Colab</a:t>
            </a:r>
            <a:endParaRPr lang="en-US" sz="14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84048" y="1737360"/>
            <a:ext cx="2011680" cy="1828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5488" y="2395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61488"/>
            <a:ext cx="1874520" cy="7132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financial_data.csv  →  4,231 </a:t>
            </a:r>
            <a:r>
              <a:rPr lang="en-US" sz="10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days loaded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395728" y="2651760"/>
            <a:ext cx="1645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737360"/>
            <a:ext cx="2011680" cy="182880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51760" y="2395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33472" y="2761488"/>
            <a:ext cx="1874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trains on 2010–2022  (~45 sec)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2651760"/>
            <a:ext cx="1645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36592" y="1737360"/>
            <a:ext cx="201168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36592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28032" y="2395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forecast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9744" y="2761488"/>
            <a:ext cx="1874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30 days  →  50 MC passes  →  μ + σ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48272" y="2651760"/>
            <a:ext cx="1645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12864" y="1737360"/>
            <a:ext cx="2011680" cy="18288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12864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04304" y="2395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check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86016" y="2761488"/>
            <a:ext cx="1874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detects current market state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3840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37764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Output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413308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: </a:t>
            </a: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▲ / DOWN ▼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40740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(log return)  •  </a:t>
            </a:r>
            <a:r>
              <a:rPr lang="en-US" sz="12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(uncertainty)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6817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label:  HIGH / MODERATE / LOW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703320"/>
            <a:ext cx="3931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3776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Output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46320" y="413308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: </a:t>
            </a: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/ Sideways / Bear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44074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P(Bull)  •  P(Sideways)  •  P(Bear)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46817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trade or be cautious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65090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0" y="2697480"/>
            <a:ext cx="4572000" cy="4572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07792"/>
            <a:ext cx="18288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3A86FF"/>
                </a:solidFill>
                <a:latin typeface="Calibri"/>
                <a:ea typeface="Calibri"/>
                <a:cs typeface="Calibri"/>
              </a:rPr>
              <a:t>4,231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456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29077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0" y="3456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accuracy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9077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3456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passes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29077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83680" y="3456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regimes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 Yıldırım  •  Belkıs Derin Yüksel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3708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github.com/derinyuksel/ADL-financial-forecasting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Uncertainty-Aware Financial Forecasting</dc:title>
  <dc:subject>PptxGenJS Presentation</dc:subject>
  <dc:creator>Lara Yıldırım, Belkıs Derin Yüksel</dc:creator>
  <cp:lastModifiedBy>Lara Yıldırım, Belkıs Derin Yüksel</cp:lastModifiedBy>
  <cp:revision>60</cp:revision>
  <dcterms:created xsi:type="dcterms:W3CDTF">2026-05-12T16:43:04Z</dcterms:created>
  <dcterms:modified xsi:type="dcterms:W3CDTF">2026-05-12T22:46:38Z</dcterms:modified>
</cp:coreProperties>
</file>